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5" r:id="rId3"/>
    <p:sldId id="266" r:id="rId4"/>
    <p:sldId id="267" r:id="rId5"/>
    <p:sldId id="271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9008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(30-40 sec): Introduce yourself and the project scope: an end-to-end Power BI analysis of H&amp;M transaction data covering category performance, seasonality, RFM customer segmentation, market basket, and retention.
Read the four headline numbers as a preview, not a deep dive - '79% of revenue from just 3 categories, 81% from repeat customers, 32% at risk of churn, only 14% cross-category baskets.' Say: 'Over the next five slides I'll unpack each of these and end with what H&amp;M should do about them.'
Keep this slide under 1 minute - it's a trailer, not the movie.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82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39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81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5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chart: of 1.7 million baskets, only 14% cross categories, but when they do, Upper+Lower body (45,809) dwarfs every other pairing - customers naturally shop for a complete outfit. Accessories are under-attached (8,914 and 4,606) - call this a bundling opportunity.
Right chart: the project's #1 insight. Repeat customers are 51% of the base but drive 81% of revenue; one-time buyers are basically the mirror image (49% of customers, only 19% of revenue). Mention repeat customers buy 3.9 times on average, and even nudging someone from 1 to 2-3 purchases has an outsized revenue effect.
Explicitly connect back to slide 4: 'the 32% At-Risk segment are repeat buyers slipping away before they churn completely - protecting them protects this 81%.'
End on the opportunity line - this is the pivot into your final recommendations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four cards as a single cohesive plan, not four unrelated ideas: 'Retain the At-Risk 32%, double down on the categories that already earn 79% of revenue, bundle the outfit pairings customers already buy, and time stock to the seasonal patterns we saw.'
If asked which one matters most: lead with retention (card 1) - it's the highest-leverage lever because repeat customers already drive 81% of revenue.
Close by inviting questions. Have the underlying numbers (79/81/32/14 from slide 1) ready to restate if asked to summarize in one sentence: 'H&amp;M's revenue is concentrated in a few categories and a loyal minority of customers - protecting and growing both matters more than broad acquisition.'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498348"/>
            <a:ext cx="10879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      	H&amp;M FASHION BUSINESS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686300" y="1106961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827532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850129" y="17429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ANALYSIS: Category Performance, Seasonality, Customer Segments &amp; Retention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4521" y="29941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FOUR NUMBERS THAT TELL THE 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21792" y="4572000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just 3 of 18 categories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1792" y="55046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/ Lower / Full body garments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65760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502152" y="4572000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repeat customers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02152" y="55046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only 51% of the customer base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65760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82512" y="4572000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are “At Risk” of churn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82512" y="55046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largest RFM segment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3657600"/>
            <a:ext cx="2697480" cy="2468880"/>
          </a:xfrm>
          <a:prstGeom prst="roundRect">
            <a:avLst>
              <a:gd name="adj" fmla="val 2222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3858768"/>
            <a:ext cx="2368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262872" y="4572000"/>
            <a:ext cx="236829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shopping baskets span multiple categories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62872" y="5504688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is largely untapped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together: retention and category focus matter far more to H&amp;M's revenue than acquisition or catalogue breadth.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228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0228" y="20574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Performance: Top vs. Underperforming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8828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8828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8828" y="2468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2388" y="171907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2388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2388" y="24688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50228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DEAD-WEIGHT CATEGORIES — NEAR-ZERO REVENUE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0228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388" y="4325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Cosmetic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7388" y="4782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~0.00% revenue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03156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0316" y="4325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Furniture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540316" y="4782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transactions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6084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93244" y="4325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Stationery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393244" y="4782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transactions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09012" y="41605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6172" y="43251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Textile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246172" y="478231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8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~0.00% revenue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0228" y="56235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concentrate stock, design, and marketing on the top 3 categories; invest in Shoes design/marketing; discontinue or shrink dead-weight categories to limited collections.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660188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89E8144-2CD2-E3EE-0789-3F5C56FD9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388" y="933831"/>
            <a:ext cx="5450946" cy="270090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62FE586-C697-06C4-9D41-A4FF27164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5414" y="762552"/>
            <a:ext cx="4326360" cy="168619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C8D0727-5CDC-5C5A-F6EE-F6FBDEBE9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5414" y="2413299"/>
            <a:ext cx="4326360" cy="170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69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228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0228" y="628417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Contribution by Category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539548" y="16002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768148" y="17373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76908" y="17373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from just 3 of 18 categories — Upper body, Lower body, and Full body garments.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9548" y="31546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8148" y="3291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E20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6.15%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76908" y="329184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Swimwear alone — low unit price, but very high volume drives it above most other categories.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39548" y="47091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8148" y="48463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59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14.85%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76908" y="4846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the remaining 14 categories — a long tail, not a core business driver.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660188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6A8297-347E-6CE4-1E87-F11C81B8D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33" y="1698027"/>
            <a:ext cx="6163535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41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228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50228" y="304587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Sales Trend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905308" y="1554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seasonal spikes, one clear trough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05308" y="21488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— peak month: 5,765 sales / 231,906 transactions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— second peak: 5,290 sales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— lowest: 3,783 sales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start (May–Jun) and early autumn (Sep) drive spikes; winter's end (Jan–Feb) is consistently soft.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05308" y="470916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8188" y="48463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100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88188" y="5102352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promotions and staffing around June/September; use Jan–Feb for clearance and cost control.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60188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181293-2BE4-5AA7-26CE-74B01E1A0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14" y="1070221"/>
            <a:ext cx="6083592" cy="26423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8112FF-9772-AC8E-B62C-271D642B7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514" y="3966616"/>
            <a:ext cx="6190616" cy="255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59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228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5699" y="2971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Distribution (RFM)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50228" y="1463040"/>
          <a:ext cx="548640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10948" y="1554480"/>
            <a:ext cx="109728" cy="914400"/>
          </a:xfrm>
          <a:prstGeom prst="rect">
            <a:avLst/>
          </a:prstGeom>
          <a:solidFill>
            <a:srgbClr val="E2001A"/>
          </a:solidFill>
          <a:ln/>
        </p:spPr>
      </p:sp>
      <p:sp>
        <p:nvSpPr>
          <p:cNvPr id="6" name="Text 3"/>
          <p:cNvSpPr/>
          <p:nvPr/>
        </p:nvSpPr>
        <p:spPr>
          <a:xfrm>
            <a:off x="6585268" y="1463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85268" y="1783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221,720 · 32%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5268" y="2057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purchased in a long time — highest churn risk, the largest segment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10948" y="2697480"/>
            <a:ext cx="109728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6585268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Value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85268" y="2926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193,592 · 28%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5268" y="3200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Recent, frequent, high spend — the revenue backbone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10948" y="3840480"/>
            <a:ext cx="109728" cy="914400"/>
          </a:xfrm>
          <a:prstGeom prst="rect">
            <a:avLst/>
          </a:prstGeom>
          <a:solidFill>
            <a:srgbClr val="8A0010"/>
          </a:solidFill>
          <a:ln/>
        </p:spPr>
      </p:sp>
      <p:sp>
        <p:nvSpPr>
          <p:cNvPr id="14" name="Text 11"/>
          <p:cNvSpPr/>
          <p:nvPr/>
        </p:nvSpPr>
        <p:spPr>
          <a:xfrm>
            <a:off x="6585268" y="3749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85268" y="4069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8A0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151,102 · 22%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85268" y="4343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Frequent, but lower spend per visit — an upsell opportunity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10948" y="4983480"/>
            <a:ext cx="109728" cy="914400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8" name="Text 15"/>
          <p:cNvSpPr/>
          <p:nvPr/>
        </p:nvSpPr>
        <p:spPr>
          <a:xfrm>
            <a:off x="6585268" y="4892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 Value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585268" y="52120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122,975 · 18%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85268" y="5486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customers — lower priority for special attention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660188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ED00C9-B394-5623-2517-F1666BF65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28" y="1177290"/>
            <a:ext cx="5163271" cy="546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3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12088" y="289119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Buy Outfits — Repeat Buyers Fund the Business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4617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of 1,709,966 total baskets span multiple categories — but “complete the outfit” (Upper+Lower) dominates at 45,809.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309360" y="46177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textbook Pareto pattern: 51% of customers (repeat buyers) generate 81% of revenue. This links to the 32% At-Risk segment on the previous slide.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62179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0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Upper+Lower body at checkout and in displays; push accessory attachment; prioritize retention over acquisition — it is H&amp;M's highest-leverage lever.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08277-FD41-DCA0-7096-83EC63BA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1317819"/>
            <a:ext cx="5394961" cy="31627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3D39C4-1336-5162-5878-7F50BCA25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17819"/>
            <a:ext cx="5549848" cy="31627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H&amp;M Should Focus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411480" cy="41148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8013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At-Risk segment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237744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win-back campaign — personalized discounts and re-engagement — targeting the 32% of customers going quiet.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828800"/>
            <a:ext cx="411480" cy="41148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0136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the top 3 categories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Upper/Lower/Full body garments with stock, design and marketing; unlock Shoes as a high-value growth category.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794760"/>
            <a:ext cx="411480" cy="41148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7673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the complete outfit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Upper + Lower body pairings at checkout and in displays; push accessory attachment, currently far behind garment pairings.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566160"/>
            <a:ext cx="5440680" cy="1691640"/>
          </a:xfrm>
          <a:prstGeom prst="roundRect">
            <a:avLst>
              <a:gd name="adj" fmla="val 3243"/>
            </a:avLst>
          </a:prstGeom>
          <a:solidFill>
            <a:srgbClr val="2B2B2B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794760"/>
            <a:ext cx="411480" cy="411480"/>
          </a:xfrm>
          <a:prstGeom prst="ellipse">
            <a:avLst/>
          </a:prstGeom>
          <a:solidFill>
            <a:srgbClr val="E2001A"/>
          </a:solidFill>
          <a:ln w="12700">
            <a:solidFill>
              <a:srgbClr val="E200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7673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stock by seasonal type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343400"/>
            <a:ext cx="4983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Swimwear/Full body stock Feb-Mar and clear by Sep; build Upper body stock ahead of September; treat Lower body/Shoes as steady.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 &amp; Discussion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379080-26D4-CBDF-9B4E-1E65A0EA1F18}"/>
              </a:ext>
            </a:extLst>
          </p:cNvPr>
          <p:cNvSpPr txBox="1"/>
          <p:nvPr/>
        </p:nvSpPr>
        <p:spPr>
          <a:xfrm>
            <a:off x="8701263" y="558826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Created By: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   </a:t>
            </a:r>
            <a:r>
              <a:rPr lang="en-IN" dirty="0" err="1">
                <a:solidFill>
                  <a:schemeClr val="bg1"/>
                </a:solidFill>
              </a:rPr>
              <a:t>Kiruthika.V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1066</Words>
  <Application>Microsoft Office PowerPoint</Application>
  <PresentationFormat>Widescreen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Thelagavathy V</cp:lastModifiedBy>
  <cp:revision>5</cp:revision>
  <dcterms:created xsi:type="dcterms:W3CDTF">2026-08-19T12:58:54Z</dcterms:created>
  <dcterms:modified xsi:type="dcterms:W3CDTF">2026-08-21T07:12:06Z</dcterms:modified>
</cp:coreProperties>
</file>